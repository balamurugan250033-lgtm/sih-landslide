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4206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67665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Landslide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975104"/>
            <a:ext cx="5852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D5E1F5"/>
                </a:solidFill>
                <a:latin typeface="Aptos"/>
              </a:rPr>
              <a:t>AI-powered early warning for the North-Eastern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542032"/>
            <a:ext cx="5394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8D0"/>
                </a:solidFill>
                <a:latin typeface="Aptos"/>
              </a:rPr>
              <a:t>From changing ground conditions to clear, local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3273552"/>
            <a:ext cx="1417320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342132"/>
            <a:ext cx="127101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AI RISK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3273552"/>
            <a:ext cx="1298448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342132"/>
            <a:ext cx="115214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OFFLINE-FIRST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3273552"/>
            <a:ext cx="1133856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342132"/>
            <a:ext cx="9875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MESH RELAY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681728"/>
            <a:ext cx="1508760" cy="841248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91456"/>
            <a:ext cx="12344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22D3EE"/>
                </a:solidFill>
                <a:latin typeface="Apto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02936"/>
            <a:ext cx="123443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monitored 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7712" y="4681728"/>
            <a:ext cx="1691640" cy="841248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4791456"/>
            <a:ext cx="1417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97316"/>
                </a:solidFill>
                <a:latin typeface="Aptos"/>
              </a:rPr>
              <a:t>4-tier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5202936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risk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4681728"/>
            <a:ext cx="1572768" cy="841248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4791456"/>
            <a:ext cx="12984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6A34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5202936"/>
            <a:ext cx="1298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connected interfaces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932688"/>
            <a:ext cx="4096512" cy="5029200"/>
          </a:xfrm>
          <a:prstGeom prst="roundRect">
            <a:avLst/>
          </a:prstGeom>
          <a:solidFill>
            <a:srgbClr val="101D3B"/>
          </a:solidFill>
          <a:ln w="10160">
            <a:solidFill>
              <a:srgbClr val="294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261872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EARLY WARNING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1773936"/>
            <a:ext cx="502920" cy="502920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1920240"/>
            <a:ext cx="5029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1764792"/>
            <a:ext cx="2011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048255"/>
            <a:ext cx="2514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  <a:latin typeface="Aptos"/>
              </a:rPr>
              <a:t>rainfall  |  soil  |  slope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46136" y="2304288"/>
            <a:ext cx="0" cy="347472"/>
          </a:xfrm>
          <a:prstGeom prst="line">
            <a:avLst/>
          </a:prstGeom>
          <a:ln w="2032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99248" y="2706624"/>
            <a:ext cx="502920" cy="502920"/>
          </a:xfrm>
          <a:prstGeom prst="round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2852928"/>
            <a:ext cx="5029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2697480"/>
            <a:ext cx="2011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2980944"/>
            <a:ext cx="2514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  <a:latin typeface="Aptos"/>
              </a:rPr>
              <a:t>XGBoost risk inference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46136" y="3236976"/>
            <a:ext cx="0" cy="347472"/>
          </a:xfrm>
          <a:prstGeom prst="line">
            <a:avLst/>
          </a:prstGeom>
          <a:ln w="2032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99248" y="3639312"/>
            <a:ext cx="502920" cy="502920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3785615"/>
            <a:ext cx="5029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3630168"/>
            <a:ext cx="2011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3913632"/>
            <a:ext cx="2514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  <a:latin typeface="Aptos"/>
              </a:rPr>
              <a:t>web  |  SMS  |  push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46136" y="4169663"/>
            <a:ext cx="0" cy="347473"/>
          </a:xfrm>
          <a:prstGeom prst="line">
            <a:avLst/>
          </a:prstGeom>
          <a:ln w="2032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99248" y="4572000"/>
            <a:ext cx="502920" cy="502920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4718304"/>
            <a:ext cx="5029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4562856"/>
            <a:ext cx="2011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4846320"/>
            <a:ext cx="2514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8D0"/>
                </a:solidFill>
                <a:latin typeface="Aptos"/>
              </a:rPr>
              <a:t>report  |  route  |  evacuate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29107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AAB8D0"/>
                </a:solidFill>
                <a:latin typeface="Aptos"/>
              </a:rPr>
              <a:t>Team RIT Chennai  |  Problem Statement: AI-Powered Landslide Early Warning System for 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CBD5E1"/>
                </a:solidFill>
                <a:latin typeface="Apto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784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1E33"/>
                </a:solidFill>
                <a:latin typeface="Aptos"/>
              </a:rPr>
              <a:t>Make a warning useful before the slope moves.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02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8595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6748B"/>
                </a:solidFill>
                <a:latin typeface="Aptos"/>
              </a:rPr>
              <a:t>Landslide risk is not only a prediction problem. It is a last-mile coordination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01952"/>
            <a:ext cx="3529584" cy="141732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901952"/>
            <a:ext cx="91440" cy="1417320"/>
          </a:xfrm>
          <a:prstGeom prst="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Aptos"/>
              </a:rPr>
              <a:t>FRAGILE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87168"/>
            <a:ext cx="290779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31E33"/>
                </a:solidFill>
                <a:latin typeface="Aptos"/>
              </a:rPr>
              <a:t>Rainfall, soil saturation, slope angle and vibration can change faster than manual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01952"/>
            <a:ext cx="3529584" cy="14173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01952"/>
            <a:ext cx="91440" cy="14173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FRAGMENTED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87168"/>
            <a:ext cx="290779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31E33"/>
                </a:solidFill>
                <a:latin typeface="Aptos"/>
              </a:rPr>
              <a:t>Citizens, administrators and responders need the same local picture, in the same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901952"/>
            <a:ext cx="3529584" cy="14173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7888" y="1901952"/>
            <a:ext cx="91440" cy="1417320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103120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LOW 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487168"/>
            <a:ext cx="290779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31E33"/>
                </a:solidFill>
                <a:latin typeface="Aptos"/>
              </a:rPr>
              <a:t>An internet outage should not erase the last alert or block a new hazard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822191"/>
            <a:ext cx="3840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ONE SHARED OPERATING PICTURE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270248"/>
            <a:ext cx="2286000" cy="100584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43484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407408"/>
            <a:ext cx="1371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718304"/>
            <a:ext cx="1481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Live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52928" y="4773168"/>
            <a:ext cx="420624" cy="0"/>
          </a:xfrm>
          <a:prstGeom prst="line">
            <a:avLst/>
          </a:prstGeom>
          <a:ln w="3175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64992" y="4270248"/>
            <a:ext cx="2286000" cy="100584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443484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407408"/>
            <a:ext cx="1371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4718304"/>
            <a:ext cx="1481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Explainable risk tier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87568" y="4773168"/>
            <a:ext cx="420624" cy="0"/>
          </a:xfrm>
          <a:prstGeom prst="line">
            <a:avLst/>
          </a:prstGeom>
          <a:ln w="3175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99632" y="4270248"/>
            <a:ext cx="2286000" cy="100584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43484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4407408"/>
            <a:ext cx="1371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718304"/>
            <a:ext cx="1481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Admin + citizen context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22208" y="4773168"/>
            <a:ext cx="420624" cy="0"/>
          </a:xfrm>
          <a:prstGeom prst="line">
            <a:avLst/>
          </a:prstGeom>
          <a:ln w="3175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034272" y="4270248"/>
            <a:ext cx="2286000" cy="100584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443484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4407408"/>
            <a:ext cx="13716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4718304"/>
            <a:ext cx="1481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AAB8D0"/>
                </a:solidFill>
                <a:latin typeface="Aptos"/>
              </a:rPr>
              <a:t>Online or mesh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58064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31E33"/>
                </a:solidFill>
                <a:latin typeface="Aptos"/>
              </a:rPr>
              <a:t>Outcome: a risk signal becomes a visible, actionable safety decision.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784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 resilient path from signal to safety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CBD5E1"/>
                </a:solidFill>
                <a:latin typeface="Aptos"/>
              </a:rPr>
              <a:t>03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7955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AB8D0"/>
                </a:solidFill>
                <a:latin typeface="Aptos"/>
              </a:rPr>
              <a:t>Modular services keep live monitoring, decision logic and last-mile delivery independently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56816"/>
            <a:ext cx="5257800" cy="530352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956816"/>
            <a:ext cx="100584" cy="53035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84832"/>
            <a:ext cx="12070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1" y="2075688"/>
            <a:ext cx="3383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sensor feeds  |  citizen reports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2505456"/>
            <a:ext cx="0" cy="137160"/>
          </a:xfrm>
          <a:prstGeom prst="line">
            <a:avLst/>
          </a:prstGeom>
          <a:ln w="1905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" y="2660904"/>
            <a:ext cx="5257800" cy="530352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660904"/>
            <a:ext cx="100584" cy="530352"/>
          </a:xfrm>
          <a:prstGeom prst="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12070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779776"/>
            <a:ext cx="3383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XGBoost inference  |  4-tier decision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3209544"/>
            <a:ext cx="0" cy="137160"/>
          </a:xfrm>
          <a:prstGeom prst="line">
            <a:avLst/>
          </a:prstGeom>
          <a:ln w="1905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" y="3364992"/>
            <a:ext cx="5257800" cy="530352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3364992"/>
            <a:ext cx="100584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93008"/>
            <a:ext cx="12070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3483864"/>
            <a:ext cx="3383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FastAPI  |  SQLite  |  alert dispatch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3913632"/>
            <a:ext cx="0" cy="137159"/>
          </a:xfrm>
          <a:prstGeom prst="line">
            <a:avLst/>
          </a:prstGeom>
          <a:ln w="19050">
            <a:solidFill>
              <a:srgbClr val="405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0352" y="4069080"/>
            <a:ext cx="5257800" cy="530352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4069080"/>
            <a:ext cx="100584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197096"/>
            <a:ext cx="12070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LAST MILE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4187952"/>
            <a:ext cx="3383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web  |  mobile  |  mesh relay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755648"/>
            <a:ext cx="23774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Proof in the product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2029967"/>
            <a:ext cx="5065776" cy="3218688"/>
          </a:xfrm>
          <a:prstGeom prst="roundRect">
            <a:avLst/>
          </a:prstGeom>
          <a:solidFill>
            <a:srgbClr val="25334F"/>
          </a:solidFill>
          <a:ln w="10160">
            <a:solidFill>
              <a:srgbClr val="33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3120"/>
            <a:ext cx="4919472" cy="307238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74536" y="4846320"/>
            <a:ext cx="1965960" cy="22860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892040"/>
            <a:ext cx="182880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1">
                <a:solidFill>
                  <a:srgbClr val="F8FAFC"/>
                </a:solidFill>
                <a:latin typeface="Aptos"/>
              </a:rPr>
              <a:t>ADMIN COMMAND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440680"/>
            <a:ext cx="1042415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5509260"/>
            <a:ext cx="896111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ROLE-BASED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5440680"/>
            <a:ext cx="1024128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5509260"/>
            <a:ext cx="87782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GIS-AWARE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14816" y="5440680"/>
            <a:ext cx="1024128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5509260"/>
            <a:ext cx="87782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AUDITABLE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CBD5E1"/>
                </a:solidFill>
                <a:latin typeface="Apto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784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1E33"/>
                </a:solidFill>
                <a:latin typeface="Aptos"/>
              </a:rPr>
              <a:t>Designed for the conditions it must survive.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04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48B"/>
                </a:solidFill>
                <a:latin typeface="Aptos"/>
              </a:rPr>
              <a:t>The architecture is practical today and extensible tomorrow: familiar web services, local persistence and a tested offline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99" y="1819655"/>
            <a:ext cx="4946904" cy="284378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tize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92807"/>
            <a:ext cx="4800600" cy="2697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61103"/>
            <a:ext cx="1965960" cy="22860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4306824"/>
            <a:ext cx="182880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1">
                <a:solidFill>
                  <a:srgbClr val="F8FAFC"/>
                </a:solidFill>
                <a:latin typeface="Aptos"/>
              </a:rPr>
              <a:t>CITIZEN GIS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01952"/>
            <a:ext cx="28346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1E33"/>
                </a:solidFill>
                <a:latin typeface="Aptos"/>
              </a:rPr>
              <a:t>Offline-first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331720"/>
            <a:ext cx="5440680" cy="46634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459736"/>
            <a:ext cx="65836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423160"/>
            <a:ext cx="40690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31E33"/>
                </a:solidFill>
                <a:latin typeface="Aptos"/>
              </a:rPr>
              <a:t>Keep the last known region, alert and road status locally.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962656"/>
            <a:ext cx="5440680" cy="466344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090672"/>
            <a:ext cx="65836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3054096"/>
            <a:ext cx="40690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31E33"/>
                </a:solidFill>
                <a:latin typeface="Aptos"/>
              </a:rPr>
              <a:t>Store hazard reports while the network is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593591"/>
            <a:ext cx="5440680" cy="46634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721607"/>
            <a:ext cx="65836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ptos"/>
              </a:rPr>
              <a:t>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685031"/>
            <a:ext cx="40690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31E33"/>
                </a:solidFill>
                <a:latin typeface="Aptos"/>
              </a:rPr>
              <a:t>Replay queued reports automatically when connectivity returns.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4224527"/>
            <a:ext cx="5440680" cy="466344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352543"/>
            <a:ext cx="65836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>
                <a:solidFill>
                  <a:srgbClr val="16A34A"/>
                </a:solidFill>
                <a:latin typeface="Aptos"/>
              </a:rPr>
              <a:t>RELAY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315967"/>
            <a:ext cx="40690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31E33"/>
                </a:solidFill>
                <a:latin typeface="Aptos"/>
              </a:rPr>
              <a:t>Pass unseen alerts phone-to-phone with TTL-based deduplication.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138928"/>
            <a:ext cx="21031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5248656"/>
            <a:ext cx="182879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31E33"/>
                </a:solidFill>
                <a:latin typeface="Aptos"/>
              </a:rPr>
              <a:t>6 suites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660136"/>
            <a:ext cx="182879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66748B"/>
                </a:solidFill>
                <a:latin typeface="Aptos"/>
              </a:rPr>
              <a:t>backend + frontend + offline workflows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98064" y="5138928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4368" y="5248656"/>
            <a:ext cx="2057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31E33"/>
                </a:solidFill>
                <a:latin typeface="Aptos"/>
              </a:rP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5660136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66748B"/>
                </a:solidFill>
                <a:latin typeface="Aptos"/>
              </a:rPr>
              <a:t>local persistence for low-connectivity 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85232" y="5138928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1536" y="5248656"/>
            <a:ext cx="2057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31E33"/>
                </a:solidFill>
                <a:latin typeface="Aptos"/>
              </a:rPr>
              <a:t>API-first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5660136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66748B"/>
                </a:solidFill>
                <a:latin typeface="Aptos"/>
              </a:rPr>
              <a:t>ready for sensors, SMS and satellite feeds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5138928"/>
            <a:ext cx="23317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5248656"/>
            <a:ext cx="2057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31E33"/>
                </a:solidFill>
                <a:latin typeface="Aptos"/>
              </a:rPr>
              <a:t>Pilotable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5660136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66748B"/>
                </a:solidFill>
                <a:latin typeface="Aptos"/>
              </a:rPr>
              <a:t>deploy backend, web and APK independently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784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Give every role the next useful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CBD5E1"/>
                </a:solidFill>
                <a:latin typeface="Aptos"/>
              </a:rPr>
              <a:t>05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7955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AB8D0"/>
                </a:solidFill>
                <a:latin typeface="Aptos"/>
              </a:rPr>
              <a:t>The system turns uncertainty into a shared response: observe clearly, communicate early, move deliberately.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99" y="1810512"/>
            <a:ext cx="4123944" cy="4059936"/>
          </a:xfrm>
          <a:prstGeom prst="roundRect">
            <a:avLst/>
          </a:prstGeom>
          <a:solidFill>
            <a:srgbClr val="25334F"/>
          </a:solidFill>
          <a:ln w="10160">
            <a:solidFill>
              <a:srgbClr val="33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tizen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83664"/>
            <a:ext cx="3977639" cy="39136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468112"/>
            <a:ext cx="1965960" cy="22860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5513832"/>
            <a:ext cx="182880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1">
                <a:solidFill>
                  <a:srgbClr val="F8FAFC"/>
                </a:solidFill>
                <a:latin typeface="Aptos"/>
              </a:rPr>
              <a:t>CITIZEN MONITORING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956816"/>
            <a:ext cx="6263640" cy="859536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80" y="1956816"/>
            <a:ext cx="91440" cy="859536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121408"/>
            <a:ext cx="1554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CITIZENS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093976"/>
            <a:ext cx="400507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See local risk, alerts, safe routes and reporting tools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063240"/>
            <a:ext cx="6263640" cy="859536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3063240"/>
            <a:ext cx="91440" cy="859536"/>
          </a:xfrm>
          <a:prstGeom prst="rect">
            <a:avLst/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3227832"/>
            <a:ext cx="1554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Aptos"/>
              </a:rPr>
              <a:t>AUTHORITIES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200400"/>
            <a:ext cx="400507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Prioritize regions, issue targeted alerts and track road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4169664"/>
            <a:ext cx="6263640" cy="859536"/>
          </a:xfrm>
          <a:prstGeom prst="roundRect">
            <a:avLst/>
          </a:prstGeom>
          <a:solidFill>
            <a:srgbClr val="162441"/>
          </a:solidFill>
          <a:ln w="10160">
            <a:solidFill>
              <a:srgbClr val="2A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4169664"/>
            <a:ext cx="91440" cy="859536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4334256"/>
            <a:ext cx="1554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RESPONDERS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4306824"/>
            <a:ext cx="400507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Carry the last known alert beyond the edge of connectivity.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440680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Success looks like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94960"/>
            <a:ext cx="4251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 warning that still reaches people when the network does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CBD5E1"/>
                </a:solidFill>
                <a:latin typeface="Apto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3931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VALIDATION AND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9784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1E33"/>
                </a:solidFill>
                <a:latin typeface="Aptos"/>
              </a:rPr>
              <a:t>Built to be tested in the field, then extended.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06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48B"/>
                </a:solidFill>
                <a:latin typeface="Aptos"/>
              </a:rPr>
              <a:t>Current implementation is validated across the decision path; the next milestone is real-world sensor and community pilot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2024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VALIDATED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322576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95728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Risk decision and threshold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2322576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404872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395728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Sensor ingestion and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889504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962656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Citizen report 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2" y="2889504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971800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962656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Offline queue and reconnect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456432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38728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3529584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Push / notification behavior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56432"/>
            <a:ext cx="2468880" cy="34747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538728"/>
            <a:ext cx="18288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3529584"/>
            <a:ext cx="1920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31E33"/>
                </a:solidFill>
                <a:latin typeface="Aptos"/>
              </a:rPr>
              <a:t>Admin alert dispatch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883664"/>
            <a:ext cx="4892040" cy="2468880"/>
          </a:xfrm>
          <a:prstGeom prst="roundRect">
            <a:avLst/>
          </a:prstGeom>
          <a:solidFill>
            <a:srgbClr val="0A1226"/>
          </a:solidFill>
          <a:ln w="10160"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231136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NEXT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578608"/>
            <a:ext cx="3840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Connect live observation to local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218688"/>
            <a:ext cx="38862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D5E1F5"/>
                </a:solidFill>
                <a:latin typeface="Aptos"/>
              </a:rPr>
              <a:t>IoT sensors  →  district pilot  →  multilingual delivery  →  community 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794760"/>
            <a:ext cx="950976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3863340"/>
            <a:ext cx="8046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SCALABLE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3794760"/>
            <a:ext cx="1078992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3863340"/>
            <a:ext cx="93268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MEASURABLE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3794760"/>
            <a:ext cx="1444752" cy="329184"/>
          </a:xfrm>
          <a:prstGeom prst="roundRect">
            <a:avLst/>
          </a:prstGeom>
          <a:solidFill>
            <a:srgbClr val="20345B"/>
          </a:solidFill>
          <a:ln w="10160">
            <a:solidFill>
              <a:srgbClr val="203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3863340"/>
            <a:ext cx="12984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COMMUNITY-READY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864608"/>
            <a:ext cx="1371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References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193792"/>
            <a:ext cx="7223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31E33"/>
                </a:solidFill>
                <a:latin typeface="Aptos"/>
              </a:rPr>
              <a:t>FastAPI, SQLAlchemy, XGBoost, React/Vite, React Native, Expo, SQLite, Google Nearby Connections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074920"/>
            <a:ext cx="2468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2700" b="1">
                <a:solidFill>
                  <a:srgbClr val="131E33"/>
                </a:solidFill>
                <a:latin typeface="Aptos"/>
              </a:rPr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623560"/>
            <a:ext cx="4069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6748B"/>
                </a:solidFill>
                <a:latin typeface="Aptos"/>
              </a:rPr>
              <a:t>RIT Chennai  |  NER Landslide Early Warning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6748B"/>
                </a:solidFill>
                <a:latin typeface="Aptos"/>
              </a:rPr>
              <a:t>RIT Chennai  |  Smart India Hackathon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0528"/>
            <a:ext cx="6217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66748B"/>
                </a:solidFill>
                <a:latin typeface="Aptos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